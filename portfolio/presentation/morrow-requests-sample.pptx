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881fe7ec6e4da7" /><Relationship Type="http://schemas.openxmlformats.org/officeDocument/2006/relationships/extended-properties" Target="/docProps/app.xml" Id="Rd2686b54cd6d4a61" /><Relationship Type="http://schemas.openxmlformats.org/officeDocument/2006/relationships/officeDocument" Target="/ppt/presentation.xml" Id="Rd5b3025ed02346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cf7042f43a47bf"/>
  </p:sldMasterIdLst>
  <p:notesMasterIdLst>
    <p:notesMasterId xmlns:r="http://schemas.openxmlformats.org/officeDocument/2006/relationships" r:id="R2762890fd72c462a"/>
  </p:notesMasterIdLst>
  <p:sldIdLst>
    <p:sldId xmlns:r="http://schemas.openxmlformats.org/officeDocument/2006/relationships" id="256" r:id="Ra0be7440c1024290"/>
    <p:sldId xmlns:r="http://schemas.openxmlformats.org/officeDocument/2006/relationships" id="257" r:id="R11ce610acad44014"/>
    <p:sldId xmlns:r="http://schemas.openxmlformats.org/officeDocument/2006/relationships" id="258" r:id="Rbe23a054e59843c9"/>
    <p:sldId xmlns:r="http://schemas.openxmlformats.org/officeDocument/2006/relationships" id="259" r:id="Rf87ea74a7c5846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a0c65af9354cb3" /><Relationship Type="http://schemas.openxmlformats.org/officeDocument/2006/relationships/slideMaster" Target="/ppt/slideMasters/slideMaster1.xml" Id="Rf3cf7042f43a47bf" /><Relationship Type="http://schemas.openxmlformats.org/officeDocument/2006/relationships/notesMaster" Target="/ppt/notesMasters/notesMaster1.xml" Id="R2762890fd72c462a" /><Relationship Type="http://schemas.openxmlformats.org/officeDocument/2006/relationships/presProps" Target="/ppt/presProps.xml" Id="R7c262161afe14ae1" /><Relationship Type="http://schemas.openxmlformats.org/officeDocument/2006/relationships/tableStyles" Target="/ppt/tableStyles.xml" Id="R40b59cccf7104885" /><Relationship Type="http://schemas.openxmlformats.org/officeDocument/2006/relationships/slide" Target="/ppt/slides/slide1.xml" Id="Ra0be7440c1024290" /><Relationship Type="http://schemas.openxmlformats.org/officeDocument/2006/relationships/slide" Target="/ppt/slides/slide2.xml" Id="R11ce610acad44014" /><Relationship Type="http://schemas.openxmlformats.org/officeDocument/2006/relationships/slide" Target="/ppt/slides/slide3.xml" Id="Rbe23a054e59843c9" /><Relationship Type="http://schemas.openxmlformats.org/officeDocument/2006/relationships/slide" Target="/ppt/slides/slide4.xml" Id="Rf87ea74a7c58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ad428786084f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37ab7d0d334246" /><Relationship Type="http://schemas.openxmlformats.org/officeDocument/2006/relationships/notesMaster" Target="/ppt/notesMasters/notesMaster1.xml" Id="R913779590fe444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5b0c1c0ddf4282" /><Relationship Type="http://schemas.openxmlformats.org/officeDocument/2006/relationships/notesMaster" Target="/ppt/notesMasters/notesMaster1.xml" Id="Rd91fea3b5a61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57ec6e05b4706" /><Relationship Type="http://schemas.openxmlformats.org/officeDocument/2006/relationships/notesMaster" Target="/ppt/notesMasters/notesMaster1.xml" Id="R28a7579ec349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5e34cef5c8478c" /><Relationship Type="http://schemas.openxmlformats.org/officeDocument/2006/relationships/notesMaster" Target="/ppt/notesMasters/notesMaster1.xml" Id="R91febaf360fe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5d4870a7f46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a20a5952d24e55" /><Relationship Type="http://schemas.openxmlformats.org/officeDocument/2006/relationships/slideLayout" Target="/ppt/slideLayouts/slideLayout1.xml" Id="R0253baeb250d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53baeb250d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36c9c48484dd9" /><Relationship Type="http://schemas.openxmlformats.org/officeDocument/2006/relationships/notesSlide" Target="/ppt/notesSlides/notesSlide1.xml" Id="Rfe57412d6a154c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eb9c0f44a4aef" /><Relationship Type="http://schemas.openxmlformats.org/officeDocument/2006/relationships/notesSlide" Target="/ppt/notesSlides/notesSlide2.xml" Id="Ref60558fd2654f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a3839134e4424" /><Relationship Type="http://schemas.openxmlformats.org/officeDocument/2006/relationships/chart" Target="/ppt/slides/charts/chart1.xml" Id="R9fb85c1e2a304afe" /><Relationship Type="http://schemas.openxmlformats.org/officeDocument/2006/relationships/notesSlide" Target="/ppt/notesSlides/notesSlide3.xml" Id="R3f6e464a1b0e4a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4dfd1d6874b6b" /><Relationship Type="http://schemas.openxmlformats.org/officeDocument/2006/relationships/notesSlide" Target="/ppt/notesSlides/notesSlide4.xml" Id="R8c022c1213c845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Illustrative current workflow</c:v>
          </c:tx>
          <c:spPr>
            <a:solidFill xmlns:a="http://schemas.openxmlformats.org/drawingml/2006/main">
              <a:srgbClr val="E7D7BD"/>
            </a:solidFill>
          </c:spPr>
          <c:cat>
            <c:strRef>
              <c:f>'Chart Data'!$A$2:$A$4</c:f>
              <c:strCache>
                <c:ptCount val="3"/>
                <c:pt idx="0">
                  <c:v>Status checks</c:v>
                </c:pt>
                <c:pt idx="1">
                  <c:v>Reassigned requests</c:v>
                </c:pt>
                <c:pt idx="2">
                  <c:v>Repeated questions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v>Illustrative shared queue</c:v>
          </c:tx>
          <c:spPr>
            <a:solidFill xmlns:a="http://schemas.openxmlformats.org/drawingml/2006/main">
              <a:srgbClr val="1B665D"/>
            </a:solidFill>
          </c:spPr>
          <c:cat>
            <c:strRef>
              <c:f>'Chart Data'!$C$2:$C$4</c:f>
              <c:strCache>
                <c:ptCount val="3"/>
                <c:pt idx="0">
                  <c:v>Status checks</c:v>
                </c:pt>
                <c:pt idx="1">
                  <c:v>Reassigned requests</c:v>
                </c:pt>
                <c:pt idx="2">
                  <c:v>Repeated questions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8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C2928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Illustrative weekly instances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8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C2928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6F2B1-DA4D-4098-BDCE-A35972E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665D"/>
                </a:solidFill>
                <a:latin typeface="Aptos"/>
                <a:ea typeface="Aptos"/>
                <a:cs typeface="Aptos"/>
              </a:rPr>
              <a:t>MORROW REQUESTS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B78C8-9E84-4D1E-858F-02FDF82F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Morrow</a:t>
            </a:r>
          </a:p>
          <a:p xmlns:a="http://schemas.openxmlformats.org/drawingml/2006/main">
            <a:pPr algn="l">
              <a:defRPr sz="5400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Requests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B72EF-228A-42A0-A2FC-6638AF38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65D"/>
          </a:solidFill>
          <a:ln xmlns:a="http://schemas.openxmlformats.org/drawingml/2006/main" w="0">
            <a:solidFill>
              <a:srgbClr val="1B665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B7E4C-695F-409E-9876-633251A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One shared place for incoming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5BFBB-4674-435D-93F6-09D006EF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Keep every request with its owner, decision history and next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1B956-2BF5-4458-9A88-0F1F6E22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C2928"/>
                </a:solidFill>
                <a:latin typeface="Aptos"/>
                <a:ea typeface="Aptos"/>
                <a:cs typeface="Aptos"/>
              </a:rPr>
              <a:t>Abdullah Alsmaeel</a:t>
            </a:r>
          </a:p>
          <a:p xmlns:a="http://schemas.openxmlformats.org/drawingml/2006/main">
            <a:pPr algn="l">
              <a:defRPr sz="1350" b="0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C2928"/>
                </a:solidFill>
                <a:latin typeface="Aptos"/>
                <a:ea typeface="Aptos"/>
                <a:cs typeface="Aptos"/>
              </a:rPr>
              <a:t>AI-assisted original work</a:t>
            </a:r>
          </a:p>
          <a:p xmlns:a="http://schemas.openxmlformats.org/drawingml/2006/main">
            <a:pPr algn="l">
              <a:defRPr sz="1350" b="0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C2928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2C406-409E-4290-8938-F8283B69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Synthetic concept only. No client, customer, or measured-result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B8B41-2AE9-468C-A060-255C51C9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8C1"/>
          </a:solidFill>
          <a:ln xmlns:a="http://schemas.openxmlformats.org/drawingml/2006/main" w="0">
            <a:solidFill>
              <a:srgbClr val="BFC8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992AB-FD2F-497E-97AB-6E1050DB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Morrow Requests. Original synthetic portfolio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E54A1-152C-4419-A72C-7A1B285E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813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9C099-005E-4C83-ABFC-1AFE8A80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665D"/>
                </a:solidFill>
                <a:latin typeface="Aptos"/>
                <a:ea typeface="Aptos"/>
                <a:cs typeface="Aptos"/>
              </a:rPr>
              <a:t>CURRENT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C524A-E1D3-49E1-830E-AF2B9F8F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Requests move through too many places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E04D7-3EB7-4CF7-B3B8-261BE698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Illustrative workflow for a fictional operations team.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324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06800"/>
                <a:gridCol w="3606800"/>
                <a:gridCol w="3606800"/>
              </a:tblGrid>
              <a:tr h="581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Where a request starts</a:t>
                      </a:r>
                    </a:p>
                  </a:txBody>
                  <a:tcPr marL="91440" marR="91440" marT="45720" marB="45720">
                    <a:solidFill>
                      <a:srgbClr val="1B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gets lost</a:t>
                      </a:r>
                    </a:p>
                  </a:txBody>
                  <a:tcPr marL="91440" marR="91440" marT="45720" marB="45720">
                    <a:solidFill>
                      <a:srgbClr val="1B6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Illustrative consequence</a:t>
                      </a:r>
                    </a:p>
                  </a:txBody>
                  <a:tcPr marL="91440" marR="91440" marT="45720" marB="45720">
                    <a:solidFill>
                      <a:srgbClr val="1B665D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Shared inbox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Owner and next step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A request waits for a manual follow-up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Chat thread</a:t>
                      </a:r>
                    </a:p>
                  </a:txBody>
                  <a:tcPr marL="91440" marR="91440" marT="45720" marB="45720">
                    <a:solidFill>
                      <a:srgbClr val="ED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Decision context</a:t>
                      </a:r>
                    </a:p>
                  </a:txBody>
                  <a:tcPr marL="91440" marR="91440" marT="45720" marB="45720">
                    <a:solidFill>
                      <a:srgbClr val="ED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The team repeats a question</a:t>
                      </a:r>
                    </a:p>
                  </a:txBody>
                  <a:tcPr marL="91440" marR="91440" marT="45720" marB="45720">
                    <a:solidFill>
                      <a:srgbClr val="EDF0E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Spreadsheet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928"/>
                          </a:solidFill>
                          <a:latin typeface="Aptos"/>
                          <a:ea typeface="Aptos"/>
                          <a:cs typeface="Aptos"/>
                        </a:rPr>
                        <a:t>A handoff uses an older 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9AEAC-E250-4F0D-A834-C6FE875A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4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928"/>
                </a:solidFill>
                <a:latin typeface="Aptos"/>
                <a:ea typeface="Aptos"/>
                <a:cs typeface="Aptos"/>
              </a:rPr>
              <a:t>The product concept keeps one request record with its owner, context, and current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8BFDA-076F-4278-A875-10FE37F7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8C1"/>
          </a:solidFill>
          <a:ln xmlns:a="http://schemas.openxmlformats.org/drawingml/2006/main" w="0">
            <a:solidFill>
              <a:srgbClr val="BFC8C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1FE0F-7E48-4FA9-AD38-B594A020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Morrow Requests. Original synthetic portfolio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2E557-57F9-4AB6-9E81-6671556A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4873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04408-080E-47D9-A651-3AB393AD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665D"/>
                </a:solidFill>
                <a:latin typeface="Aptos"/>
                <a:ea typeface="Aptos"/>
                <a:cs typeface="Aptos"/>
              </a:rPr>
              <a:t>ILLUSTRATIVE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46445-0ECB-4F1D-8C70-AFDEB751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7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Follow-up work in two illustrative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1AE5F-3987-4BD1-85B2-601F649F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Fictional weekly action counts for a design demonstration.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6572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b85c1e2a304af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3E028-1E57-432C-98D9-1D04A26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8C1"/>
          </a:solidFill>
          <a:ln xmlns:a="http://schemas.openxmlformats.org/drawingml/2006/main" w="0">
            <a:solidFill>
              <a:srgbClr val="BFC8C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8FD44-F179-4187-AB61-35EA8DD8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665D"/>
                </a:solidFill>
                <a:latin typeface="Aptos"/>
                <a:ea typeface="Aptos"/>
                <a:cs typeface="Aptos"/>
              </a:rPr>
              <a:t>Reading the chart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FC268-1FC7-450E-B370-9FAC26C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2362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4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Status checks take the largest share of modeled follow-up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70CCC-ADDD-4B42-AB73-4523F5C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5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Current workflow: 39 actions per week.</a:t>
            </a:r>
          </a:p>
          <a:p xmlns:a="http://schemas.openxmlformats.org/drawingml/2006/main">
            <a:pPr algn="l">
              <a:defRPr sz="1275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Shared-queue scenario: 16 actions per week.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B05CA-6F7C-4B6C-9008-8DB134C7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8C1"/>
          </a:solidFill>
          <a:ln xmlns:a="http://schemas.openxmlformats.org/drawingml/2006/main" w="0">
            <a:solidFill>
              <a:srgbClr val="BFC8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71CDE-0C80-4049-9607-09D7EEA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Morrow Requests. Original synthetic portfolio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ADAA5-3554-4E18-9C60-90D51A3B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8813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CA6AE-E493-4BBA-89CD-9CD339C4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665D"/>
                </a:solidFill>
                <a:latin typeface="Aptos"/>
                <a:ea typeface="Aptos"/>
                <a:cs typeface="Aptos"/>
              </a:rPr>
              <a:t>PILOT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C6AF9-0263-4489-A654-CDE3766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A pilot for one operations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7C9F5-DBC2-40E2-BD13-F1529917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Illustrative scope for Morrow Requests.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F4D22-3A42-4F21-B894-C789080C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65D"/>
          </a:solidFill>
          <a:ln xmlns:a="http://schemas.openxmlformats.org/drawingml/2006/main" w="0">
            <a:solidFill>
              <a:srgbClr val="1B66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2C6C9-1AD6-4791-B1FA-C1EA26E2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665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B665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0EBED-B0E1-4E8E-A51E-E1DB5824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05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Request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C2CC5-F9A3-44A3-B7F5-39973F20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Capture a request, assign an owner, and show the next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6CFB4-A6D9-4C71-8FE5-49257ADD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665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B66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0D643-16BA-4554-8840-99DC2259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05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C2928"/>
                </a:solidFill>
                <a:latin typeface="Aptos"/>
                <a:ea typeface="Aptos"/>
                <a:cs typeface="Aptos"/>
              </a:rPr>
              <a:t>Shared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73331-97E2-4C53-9A2C-C8453B0C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Show one current state and keep the decision history beside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021A7-EA3B-4EF6-9814-1487140C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8C1"/>
          </a:solidFill>
          <a:ln xmlns:a="http://schemas.openxmlformats.org/drawingml/2006/main" w="0">
            <a:solidFill>
              <a:srgbClr val="BFC8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0E8B0-A44A-42DE-95C9-B6B009B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665D"/>
                </a:solidFill>
                <a:latin typeface="Aptos"/>
                <a:ea typeface="Aptos"/>
                <a:cs typeface="Aptos"/>
              </a:rPr>
              <a:t>Pilot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F6BE5-3657-46A7-9629-86ACD0B4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C292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C2928"/>
                </a:solidFill>
                <a:latin typeface="Aptos"/>
                <a:ea typeface="Aptos"/>
                <a:cs typeface="Aptos"/>
              </a:rPr>
              <a:t>Review a small set of buyer requests, then decide whether the workflow and layout fit the team.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5D036-B8B7-499B-BF19-134EB22F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8C1"/>
          </a:solidFill>
          <a:ln xmlns:a="http://schemas.openxmlformats.org/drawingml/2006/main" w="0">
            <a:solidFill>
              <a:srgbClr val="BFC8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28564-359E-4244-8D2F-4DEBE3D5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Morrow Requests. Original synthetic portfolio 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3204E-88BF-4FD8-B211-B3B2A854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6478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2026-09-22T14:23:56.3290000Z</dcterms:created>
  <dcterms:modified xsi:type="dcterms:W3CDTF">2026-09-22T14:23:56.3290000Z</dcterms:modified>
</coreProperties>
</file>